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6476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" y="109728"/>
            <a:ext cx="11841480" cy="2852928"/>
          </a:xfrm>
          <a:prstGeom prst="roundRect">
            <a:avLst/>
          </a:prstGeom>
          <a:solidFill>
            <a:srgbClr val="D9D9D9"/>
          </a:solidFill>
          <a:ln w="21590">
            <a:solidFill>
              <a:srgbClr val="4D7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>
            <a:off x="201168" y="146304"/>
            <a:ext cx="3520440" cy="393192"/>
          </a:xfrm>
          <a:prstGeom prst="chevron">
            <a:avLst/>
          </a:prstGeom>
          <a:solidFill>
            <a:srgbClr val="F3F4F6"/>
          </a:solidFill>
          <a:ln w="15240">
            <a:solidFill>
              <a:srgbClr val="4D7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6616" y="164592"/>
            <a:ext cx="3063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</a:defRPr>
            </a:pPr>
            <a:r>
              <a:t>Central Management &amp;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" y="3648456"/>
            <a:ext cx="11841480" cy="2816352"/>
          </a:xfrm>
          <a:prstGeom prst="roundRect">
            <a:avLst/>
          </a:prstGeom>
          <a:solidFill>
            <a:srgbClr val="D9D9D9"/>
          </a:solidFill>
          <a:ln w="21590">
            <a:solidFill>
              <a:srgbClr val="4D7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201168" y="3685032"/>
            <a:ext cx="2331720" cy="393192"/>
          </a:xfrm>
          <a:prstGeom prst="chevron">
            <a:avLst/>
          </a:prstGeom>
          <a:solidFill>
            <a:srgbClr val="F3F4F6"/>
          </a:solidFill>
          <a:ln w="15240">
            <a:solidFill>
              <a:srgbClr val="4D7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3712463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Source GCP Projects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1328" y="768096"/>
            <a:ext cx="2304288" cy="12984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896112"/>
            <a:ext cx="228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111111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21992" y="932688"/>
            <a:ext cx="822960" cy="822960"/>
          </a:xfrm>
          <a:prstGeom prst="roundRect">
            <a:avLst/>
          </a:prstGeom>
          <a:solidFill>
            <a:srgbClr val="4E8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86584" y="1106424"/>
            <a:ext cx="493776" cy="438912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2" y="1170432"/>
            <a:ext cx="38404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&gt;_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1783080"/>
            <a:ext cx="19202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111111"/>
                </a:solidFill>
                <a:latin typeface="Arial"/>
              </a:defRPr>
            </a:pPr>
            <a:r>
              <a:t>Ansible Control Node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658368"/>
            <a:ext cx="239572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58784" y="786384"/>
            <a:ext cx="228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111111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9171432" y="914400"/>
            <a:ext cx="868680" cy="868680"/>
          </a:xfrm>
          <a:prstGeom prst="ellipse">
            <a:avLst/>
          </a:prstGeom>
          <a:solidFill>
            <a:srgbClr val="4D8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1097280"/>
            <a:ext cx="868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GCP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901952"/>
            <a:ext cx="21488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111111"/>
                </a:solidFill>
                <a:latin typeface="Arial"/>
              </a:defRPr>
            </a:pPr>
            <a:r>
              <a:t>Cloud Monitoring Metrics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402336"/>
            <a:ext cx="28346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111111"/>
                </a:solidFill>
                <a:latin typeface="Arial"/>
              </a:defRPr>
            </a:pPr>
            <a:r>
              <a:t>Central Monitoring GCP Project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19072" y="4608576"/>
            <a:ext cx="1481328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47088" y="4718304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21992" y="4846320"/>
            <a:ext cx="493776" cy="116586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5A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76856" y="4884039"/>
            <a:ext cx="37719" cy="37719"/>
          </a:xfrm>
          <a:prstGeom prst="ellipse">
            <a:avLst/>
          </a:prstGeom>
          <a:solidFill>
            <a:srgbClr val="5A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44318" y="4887468"/>
            <a:ext cx="102869" cy="30861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221992" y="5004054"/>
            <a:ext cx="493776" cy="116586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5A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76856" y="5041773"/>
            <a:ext cx="37719" cy="37719"/>
          </a:xfrm>
          <a:prstGeom prst="ellipse">
            <a:avLst/>
          </a:prstGeom>
          <a:solidFill>
            <a:srgbClr val="5A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44318" y="5045202"/>
            <a:ext cx="102869" cy="30861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21992" y="5161788"/>
            <a:ext cx="493776" cy="116586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5A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76856" y="5199506"/>
            <a:ext cx="37719" cy="37719"/>
          </a:xfrm>
          <a:prstGeom prst="ellipse">
            <a:avLst/>
          </a:prstGeom>
          <a:solidFill>
            <a:srgbClr val="5A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44318" y="5202936"/>
            <a:ext cx="102869" cy="30861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5358384"/>
            <a:ext cx="11887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111111"/>
                </a:solidFill>
                <a:latin typeface="Arial"/>
              </a:defRPr>
            </a:pPr>
            <a:r>
              <a:t>GCP VMs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57800" y="4608576"/>
            <a:ext cx="1481328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85816" y="4718304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42432" y="4846320"/>
            <a:ext cx="493776" cy="116586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5A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97296" y="4884039"/>
            <a:ext cx="37719" cy="37719"/>
          </a:xfrm>
          <a:prstGeom prst="ellipse">
            <a:avLst/>
          </a:prstGeom>
          <a:solidFill>
            <a:srgbClr val="5A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64758" y="4887468"/>
            <a:ext cx="102869" cy="30861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742432" y="5004054"/>
            <a:ext cx="493776" cy="116586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5A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97296" y="5041773"/>
            <a:ext cx="37719" cy="37719"/>
          </a:xfrm>
          <a:prstGeom prst="ellipse">
            <a:avLst/>
          </a:prstGeom>
          <a:solidFill>
            <a:srgbClr val="5A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64758" y="5045202"/>
            <a:ext cx="102869" cy="30861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742432" y="5161788"/>
            <a:ext cx="493776" cy="116586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5A8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97296" y="5199506"/>
            <a:ext cx="37719" cy="37719"/>
          </a:xfrm>
          <a:prstGeom prst="ellipse">
            <a:avLst/>
          </a:prstGeom>
          <a:solidFill>
            <a:srgbClr val="5A8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64758" y="5202936"/>
            <a:ext cx="102869" cy="30861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un 42"/>
          <p:cNvSpPr/>
          <p:nvPr/>
        </p:nvSpPr>
        <p:spPr>
          <a:xfrm>
            <a:off x="6037326" y="5134356"/>
            <a:ext cx="246888" cy="246888"/>
          </a:xfrm>
          <a:prstGeom prst="sun">
            <a:avLst/>
          </a:prstGeom>
          <a:solidFill>
            <a:srgbClr val="F1BE3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09335" y="5206365"/>
            <a:ext cx="102869" cy="10286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5358384"/>
            <a:ext cx="11430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50" b="0">
                <a:solidFill>
                  <a:srgbClr val="111111"/>
                </a:solidFill>
                <a:latin typeface="Arial"/>
              </a:defRPr>
            </a:pPr>
            <a:r>
              <a:t>Ops Agent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51392" y="4608576"/>
            <a:ext cx="196596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79408" y="4718304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48" name="Oval 47"/>
          <p:cNvSpPr/>
          <p:nvPr/>
        </p:nvSpPr>
        <p:spPr>
          <a:xfrm>
            <a:off x="9528048" y="4837176"/>
            <a:ext cx="868680" cy="868680"/>
          </a:xfrm>
          <a:prstGeom prst="ellipse">
            <a:avLst/>
          </a:prstGeom>
          <a:solidFill>
            <a:srgbClr val="4D8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28048" y="5020056"/>
            <a:ext cx="868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GCP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5367528"/>
            <a:ext cx="162763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0">
                <a:solidFill>
                  <a:srgbClr val="111111"/>
                </a:solidFill>
                <a:latin typeface="Arial"/>
              </a:defRPr>
            </a:pPr>
            <a:r>
              <a:t>GCP Local Project Monitoring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8992" y="5724144"/>
            <a:ext cx="2761488" cy="347472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5568" y="5751576"/>
            <a:ext cx="268833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0">
                <a:solidFill>
                  <a:srgbClr val="111111"/>
                </a:solidFill>
                <a:latin typeface="Arial"/>
              </a:defRPr>
            </a:pPr>
            <a:r>
              <a:t>C. Compute Engine VMs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56048" y="5724144"/>
            <a:ext cx="2084831" cy="347472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92624" y="5751576"/>
            <a:ext cx="2011679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0">
                <a:solidFill>
                  <a:srgbClr val="111111"/>
                </a:solidFill>
                <a:latin typeface="Arial"/>
              </a:defRPr>
            </a:pPr>
            <a:r>
              <a:t>D. Ops Agent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31352" y="5724144"/>
            <a:ext cx="2606040" cy="347472"/>
          </a:xfrm>
          <a:prstGeom prst="roundRect">
            <a:avLst/>
          </a:prstGeom>
          <a:solidFill>
            <a:srgbClr val="EEEEEE"/>
          </a:solidFill>
          <a:ln w="1016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67928" y="5751576"/>
            <a:ext cx="2532888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0">
                <a:solidFill>
                  <a:srgbClr val="111111"/>
                </a:solidFill>
                <a:latin typeface="Arial"/>
              </a:defRPr>
            </a:pPr>
            <a:r>
              <a:t>E. Local Cloud Monitoring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633472" y="2075688"/>
            <a:ext cx="0" cy="2532888"/>
          </a:xfrm>
          <a:prstGeom prst="line">
            <a:avLst/>
          </a:prstGeom>
          <a:ln w="27940">
            <a:solidFill>
              <a:srgbClr val="2D5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5216" y="3090672"/>
            <a:ext cx="20574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0">
                <a:solidFill>
                  <a:srgbClr val="315D91"/>
                </a:solidFill>
                <a:latin typeface="Arial"/>
              </a:defRPr>
            </a:pPr>
            <a:r>
              <a:t>1. Discover</a:t>
            </a:r>
            <a:br/>
            <a:r>
              <a:t>(Service Account API Call)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70048" y="3493008"/>
            <a:ext cx="475488" cy="301752"/>
          </a:xfrm>
          <a:prstGeom prst="roundRect">
            <a:avLst/>
          </a:prstGeom>
          <a:solidFill>
            <a:srgbClr val="445566"/>
          </a:solidFill>
          <a:ln w="6350">
            <a:solidFill>
              <a:srgbClr val="4455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70048" y="3511296"/>
            <a:ext cx="475488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IAP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2697480" y="2011680"/>
            <a:ext cx="91440" cy="2596896"/>
          </a:xfrm>
          <a:prstGeom prst="line">
            <a:avLst/>
          </a:prstGeom>
          <a:ln w="27940">
            <a:solidFill>
              <a:srgbClr val="4E8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944368" y="3063240"/>
            <a:ext cx="196596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0">
                <a:solidFill>
                  <a:srgbClr val="4E7D4D"/>
                </a:solidFill>
                <a:latin typeface="Arial"/>
              </a:defRPr>
            </a:pPr>
            <a:r>
              <a:t>2. Config &amp; Execute</a:t>
            </a:r>
            <a:br/>
            <a:r>
              <a:t>(IAP SSH Tunnel)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00400" y="5093208"/>
            <a:ext cx="2057400" cy="0"/>
          </a:xfrm>
          <a:prstGeom prst="line">
            <a:avLst/>
          </a:prstGeom>
          <a:ln w="203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739128" y="5093208"/>
            <a:ext cx="2112264" cy="0"/>
          </a:xfrm>
          <a:prstGeom prst="line">
            <a:avLst/>
          </a:prstGeom>
          <a:ln w="25400">
            <a:solidFill>
              <a:srgbClr val="B3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839712" y="4617720"/>
            <a:ext cx="18288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50" b="0">
                <a:solidFill>
                  <a:srgbClr val="A53C39"/>
                </a:solidFill>
                <a:latin typeface="Arial"/>
              </a:defRPr>
            </a:pPr>
            <a:r>
              <a:t>3. Stream Metrics</a:t>
            </a:r>
            <a:br/>
            <a:r>
              <a:t>(Monitoring Writer)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9838944" y="2167128"/>
            <a:ext cx="0" cy="2441448"/>
          </a:xfrm>
          <a:prstGeom prst="line">
            <a:avLst/>
          </a:prstGeom>
          <a:ln w="25400">
            <a:solidFill>
              <a:srgbClr val="355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085832" y="2999232"/>
            <a:ext cx="138988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20" b="0">
                <a:solidFill>
                  <a:srgbClr val="315D91"/>
                </a:solidFill>
                <a:latin typeface="Arial"/>
              </a:defRPr>
            </a:pPr>
            <a:r>
              <a:t>Aggregated via</a:t>
            </a:r>
            <a:br/>
            <a:r>
              <a:t>Metrics Scope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22191" y="6163056"/>
            <a:ext cx="45720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4B5563"/>
                </a:solidFill>
                <a:latin typeface="Arial"/>
              </a:defRPr>
            </a:pPr>
            <a:r>
              <a:t>Dynamic discovery → secure execution → centralized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